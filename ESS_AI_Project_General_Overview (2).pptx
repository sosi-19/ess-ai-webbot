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72" r:id="rId5"/>
    <p:sldId id="258" r:id="rId6"/>
    <p:sldId id="259" r:id="rId7"/>
    <p:sldId id="260" r:id="rId8"/>
    <p:sldId id="261" r:id="rId9"/>
    <p:sldId id="262" r:id="rId10"/>
    <p:sldId id="263" r:id="rId11"/>
    <p:sldId id="268" r:id="rId12"/>
    <p:sldId id="264" r:id="rId13"/>
    <p:sldId id="270" r:id="rId14"/>
    <p:sldId id="265" r:id="rId15"/>
    <p:sldId id="271" r:id="rId16"/>
    <p:sldId id="266" r:id="rId17"/>
    <p:sldId id="267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F2937"/>
                </a:solidFill>
                <a:latin typeface="Aptos"/>
              </a:defRPr>
            </a:pPr>
            <a:r>
              <a:t>ESS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60604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008F6B"/>
                </a:solidFill>
                <a:latin typeface="Aptos"/>
              </a:defRPr>
            </a:pPr>
            <a:r>
              <a:t>General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2031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ptos"/>
              </a:defRPr>
            </a:pPr>
            <a:r>
              <a:t>An AI-powered assistant designed to help users access, understand, and analyze Ethiopia Statistical </a:t>
            </a:r>
          </a:p>
          <a:p>
            <a:pPr>
              <a:defRPr sz="1800">
                <a:solidFill>
                  <a:srgbClr val="64748B"/>
                </a:solidFill>
                <a:latin typeface="Aptos"/>
              </a:defRPr>
            </a:pPr>
            <a:r>
              <a:t>Service information.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8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"/>
              </a:defRPr>
            </a:pPr>
            <a:r>
              <a:t>1. Project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Why ESS AI is being developed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Make official ESS statistical information easier to discover and understand.</a:t>
            </a:r>
          </a:p>
          <a:p>
            <a:pPr>
              <a:spcAft>
                <a:spcPts val="12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Allow users to ask questions in natural language instead of searching through long reports manually.</a:t>
            </a:r>
          </a:p>
          <a:p>
            <a:pPr>
              <a:spcAft>
                <a:spcPts val="12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Provide answers from ESS PDF publications using Retrieval-Augmented Generation (RAG).</a:t>
            </a:r>
          </a:p>
          <a:p>
            <a:pPr>
              <a:spcAft>
                <a:spcPts val="12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Support analytical questions on ESS datasets such as agriculture, education, health, and roster data.</a:t>
            </a:r>
          </a:p>
          <a:p>
            <a:pPr>
              <a:spcAft>
                <a:spcPts val="12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Create a modern AI experience that can eventually be embedded directly into the official ESS website.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8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485" y="369570"/>
            <a:ext cx="11541760" cy="51092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"/>
              </a:defRPr>
            </a:pPr>
            <a:r>
              <a:t>2. Main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The assistant combines information retrieval, AI generation, and data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520440" cy="141732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41732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2748280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📄 PDF / RAG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Ask questions about ESS reports and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 publications.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520440" cy="141732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73152" cy="141732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73351"/>
            <a:ext cx="2895600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📊 CSV Analytics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Calculate statistics and answer dataset 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508760"/>
            <a:ext cx="3520440" cy="141732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508760"/>
            <a:ext cx="73152" cy="141732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73351"/>
            <a:ext cx="2766695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📤 PDF Upload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Upload a report and retrieve answers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 specifically from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54680"/>
            <a:ext cx="3520440" cy="141732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154680"/>
            <a:ext cx="73152" cy="141732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19272"/>
            <a:ext cx="2675255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⚡ Streaming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Responses are streamed to improve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 perceived speed.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154680"/>
            <a:ext cx="3520440" cy="141732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154680"/>
            <a:ext cx="73152" cy="141732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319272"/>
            <a:ext cx="2696845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🔐 Accounts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Guest access plus login/register and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 saved chat history.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154680"/>
            <a:ext cx="3520440" cy="141732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3154680"/>
            <a:ext cx="73152" cy="141732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319272"/>
            <a:ext cx="2775585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🤖 Embeddable AI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Floating assistant designed for future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 ESS website integration.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8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"/>
              </a:defRPr>
            </a:pPr>
            <a:r>
              <a:t>3. 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How the major components work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2148840" cy="91440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3152" cy="91440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User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ESS website / AI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554480"/>
            <a:ext cx="2148840" cy="91440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54680" y="1554480"/>
            <a:ext cx="73152" cy="91440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719072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React Frontend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AIMode • ChatBox • Widget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554480"/>
            <a:ext cx="2148840" cy="91440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23560" y="1554480"/>
            <a:ext cx="73152" cy="91440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1719072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FastAPI Backend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API • Auth • Chat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54480"/>
            <a:ext cx="2148840" cy="91440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54480"/>
            <a:ext cx="73152" cy="91440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19072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AI Services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RAG • CSV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04120" y="3246120"/>
            <a:ext cx="1417320" cy="91440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104120" y="3246120"/>
            <a:ext cx="73152" cy="91440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0" y="3410712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Ollama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Local LLM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3246120"/>
            <a:ext cx="1965960" cy="91440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3246120"/>
            <a:ext cx="73152" cy="91440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3410712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ChromaDB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Vector search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57800" y="3246120"/>
            <a:ext cx="1965960" cy="91440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57800" y="3246120"/>
            <a:ext cx="73152" cy="91440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3410712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ESS Data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PDF + 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176479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176479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176479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8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"/>
              </a:defRPr>
            </a:pPr>
            <a:r>
              <a:t>4. PDF Question Answering (RAG)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The core workflow for ESS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F2937"/>
                </a:solidFill>
                <a:latin typeface="Aptos"/>
              </a:defRPr>
            </a:pPr>
            <a:r>
              <a:t>1. ESS PDF is uploaded or selected.</a:t>
            </a:r>
          </a:p>
          <a:p>
            <a:pPr>
              <a:spcAft>
                <a:spcPts val="1200"/>
              </a:spcAft>
              <a:defRPr sz="1600" b="0">
                <a:solidFill>
                  <a:srgbClr val="1F2937"/>
                </a:solidFill>
                <a:latin typeface="Aptos"/>
              </a:defRPr>
            </a:pPr>
            <a:r>
              <a:t>2. PyMuPDF extracts text from the document.</a:t>
            </a:r>
          </a:p>
          <a:p>
            <a:pPr>
              <a:spcAft>
                <a:spcPts val="1200"/>
              </a:spcAft>
              <a:defRPr sz="1600" b="0">
                <a:solidFill>
                  <a:srgbClr val="1F2937"/>
                </a:solidFill>
                <a:latin typeface="Aptos"/>
              </a:defRPr>
            </a:pPr>
            <a:r>
              <a:t>3. Text is divided into overlapping chunks.</a:t>
            </a:r>
          </a:p>
          <a:p>
            <a:pPr>
              <a:spcAft>
                <a:spcPts val="1200"/>
              </a:spcAft>
              <a:defRPr sz="1600" b="0">
                <a:solidFill>
                  <a:srgbClr val="1F2937"/>
                </a:solidFill>
                <a:latin typeface="Aptos"/>
              </a:defRPr>
            </a:pPr>
            <a:r>
              <a:t>4. Sentence-transformers creates embeddings for the chunks.</a:t>
            </a:r>
          </a:p>
          <a:p>
            <a:pPr>
              <a:spcAft>
                <a:spcPts val="1200"/>
              </a:spcAft>
              <a:defRPr sz="1600" b="0">
                <a:solidFill>
                  <a:srgbClr val="1F2937"/>
                </a:solidFill>
                <a:latin typeface="Aptos"/>
              </a:defRPr>
            </a:pPr>
            <a:r>
              <a:t>5. ChromaDB stores the chunks and metadata, including the uploaded file_id.</a:t>
            </a:r>
          </a:p>
          <a:p>
            <a:pPr>
              <a:spcAft>
                <a:spcPts val="1200"/>
              </a:spcAft>
              <a:defRPr sz="1600" b="0">
                <a:solidFill>
                  <a:srgbClr val="1F2937"/>
                </a:solidFill>
                <a:latin typeface="Aptos"/>
              </a:defRPr>
            </a:pPr>
            <a:r>
              <a:t>6. A user question is embedded and relevant chunks are retrieved.</a:t>
            </a:r>
          </a:p>
          <a:p>
            <a:pPr>
              <a:spcAft>
                <a:spcPts val="1200"/>
              </a:spcAft>
              <a:defRPr sz="1600" b="0">
                <a:solidFill>
                  <a:srgbClr val="1F2937"/>
                </a:solidFill>
                <a:latin typeface="Aptos"/>
              </a:defRPr>
            </a:pPr>
            <a:r>
              <a:t>7. Reranking prioritizes the most useful evidence and report content.</a:t>
            </a:r>
          </a:p>
          <a:p>
            <a:pPr>
              <a:spcAft>
                <a:spcPts val="1200"/>
              </a:spcAft>
              <a:defRPr sz="1600" b="0">
                <a:solidFill>
                  <a:srgbClr val="1F2937"/>
                </a:solidFill>
                <a:latin typeface="Aptos"/>
              </a:defRPr>
            </a:pPr>
            <a:r>
              <a:t>8. Ollama generates an answer using the retrieved ESS context.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8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"/>
              </a:defRPr>
            </a:pPr>
            <a:r>
              <a:t>5. CSV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Turning ESS datasets into natural-language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146304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146304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2826385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Dataset Detection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Identifies whether the question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 is related to agriculture, education,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 health, roster, or another ESS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146304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73152" cy="146304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27632"/>
            <a:ext cx="2959735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Data Operations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Current operations include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 row count, average, median, maximum,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 and unique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146304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73152" cy="146304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627632"/>
            <a:ext cx="311404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Codebook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Variable descriptions can be mapped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 through a codebook/dictionary so results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 are easier to interpret.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Planned extensions: standard deviation, variance, quartiles, percentiles, and correlation.</a:t>
            </a:r>
          </a:p>
          <a:p>
            <a:pPr>
              <a:spcAft>
                <a:spcPts val="12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Goal: make official statistical datasets accessible without requiring users to write code.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8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"/>
              </a:defRPr>
            </a:pPr>
            <a:r>
              <a:t>6. Uploaded PDF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Ensuring answers come from the document the user selected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2057400" cy="123444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3152" cy="123444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16459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① Upload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User selects PDF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554480"/>
            <a:ext cx="2057400" cy="123444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71800" y="1554480"/>
            <a:ext cx="73152" cy="123444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719072"/>
            <a:ext cx="16459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② file_id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Backend returns unique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554480"/>
            <a:ext cx="2057400" cy="123444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57800" y="1554480"/>
            <a:ext cx="73152" cy="123444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719072"/>
            <a:ext cx="16459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③ Index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Chunks store file_id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554480"/>
            <a:ext cx="2057400" cy="123444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1554480"/>
            <a:ext cx="73152" cy="123444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719072"/>
            <a:ext cx="16459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④ Ask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Message + file_id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1554480"/>
            <a:ext cx="1691640" cy="123444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29800" y="1554480"/>
            <a:ext cx="73152" cy="123444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1719072"/>
            <a:ext cx="12801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⑤ Retrieve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Only that 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4747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This prevents a question about an uploaded report from accidentally retrieving unrelated ESS documents.</a:t>
            </a:r>
          </a:p>
          <a:p>
            <a:pPr>
              <a:spcAft>
                <a:spcPts val="12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The same file-specific retrieval mechanism supports report-focused summaries and exact-value questions.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8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"/>
              </a:defRPr>
            </a:pPr>
            <a:r>
              <a:t>7.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Current AI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132588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32588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2953385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Floating ESS AI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A persistent button opens the assistant 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without replacing the main website.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132588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73152" cy="132588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81912"/>
            <a:ext cx="2929255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AI Popup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Existing AIMode, ChatBox, sidebar, and 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controls remain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383280" cy="132588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417320"/>
            <a:ext cx="73152" cy="132588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81912"/>
            <a:ext cx="2860040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Window Controls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Minimize, maximize, restore, and close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 are supported.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63240"/>
            <a:ext cx="3383280" cy="132588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063240"/>
            <a:ext cx="73152" cy="132588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27832"/>
            <a:ext cx="2867025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Authentication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Guest, login, and registration flows are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 available.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063240"/>
            <a:ext cx="3383280" cy="132588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063240"/>
            <a:ext cx="73152" cy="132588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227832"/>
            <a:ext cx="2613025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Chat History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Logged-in users can keep previous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 conversations.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063240"/>
            <a:ext cx="3383280" cy="132588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3063240"/>
            <a:ext cx="73152" cy="132588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227832"/>
            <a:ext cx="2948305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Streaming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AI output appears progressively instead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 of waiting for the full response.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8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float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220" y="609600"/>
            <a:ext cx="10253980" cy="50044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"/>
              </a:defRPr>
            </a:pPr>
            <a:r>
              <a:t>8.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Current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257800" cy="91440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91440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4846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Frontend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React + Vite + JavaScript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257800" cy="91440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73152" cy="91440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36192"/>
            <a:ext cx="4846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Backend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Python + 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14600"/>
            <a:ext cx="5257800" cy="91440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514600"/>
            <a:ext cx="73152" cy="91440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79192"/>
            <a:ext cx="4846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Database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PostgreSQL + SQLAlchemy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514600"/>
            <a:ext cx="5257800" cy="91440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514600"/>
            <a:ext cx="73152" cy="91440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79192"/>
            <a:ext cx="4846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Authentication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JWT-based authentication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5257800" cy="91440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73152" cy="91440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22191"/>
            <a:ext cx="4846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RAG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ChromaDB + sentence-transformers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57600"/>
            <a:ext cx="5257800" cy="91440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657600"/>
            <a:ext cx="73152" cy="91440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822191"/>
            <a:ext cx="4846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PDF Processing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PyMuPDF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800600"/>
            <a:ext cx="5257800" cy="91440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800600"/>
            <a:ext cx="73152" cy="91440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65192"/>
            <a:ext cx="4846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LLM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Ollama with a lightweight local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800600"/>
            <a:ext cx="5257800" cy="91440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800600"/>
            <a:ext cx="73152" cy="91440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965192"/>
            <a:ext cx="4846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Data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ESS PDF reports + CSV datasets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8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rece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070" y="372745"/>
            <a:ext cx="11593830" cy="51987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"/>
              </a:defRPr>
            </a:pPr>
            <a:r>
              <a:t>9. Performance &amp; Reliability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Key engineering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Fast retrieval: retrieval and reranking have been optimized to reduce response latency.</a:t>
            </a:r>
          </a:p>
          <a:p>
            <a:pPr>
              <a:spcAft>
                <a:spcPts val="12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Intent-aware retrieval: summary questions, exact-value questions, and other question types can be handled differently.</a:t>
            </a:r>
          </a:p>
          <a:p>
            <a:pPr>
              <a:spcAft>
                <a:spcPts val="12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Evidence-based generation: the model is instructed to answer only from supplied ESS context and not guess.</a:t>
            </a:r>
          </a:p>
          <a:p>
            <a:pPr>
              <a:spcAft>
                <a:spcPts val="12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File-specific retrieval: uploaded PDFs are isolated using file_id metadata and ChromaDB filtering.</a:t>
            </a:r>
          </a:p>
          <a:p>
            <a:pPr>
              <a:spcAft>
                <a:spcPts val="12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Streaming responses: improves user-perceived responsiveness while the model is generating.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8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uplo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560" y="398145"/>
            <a:ext cx="11611610" cy="5251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"/>
              </a:defRPr>
            </a:pPr>
            <a:r>
              <a:t>10. Next Phase: Official ESS Website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Moving from the standalone React project to an embeddable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146304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146304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2381250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Current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AI widget runs inside the 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development React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146304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73152" cy="146304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27632"/>
            <a:ext cx="2589530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Next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Create a dedicated embed entry 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point and production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1463040"/>
          </a:xfrm>
          <a:prstGeom prst="roundRect">
            <a:avLst/>
          </a:prstGeom>
          <a:solidFill>
            <a:srgbClr val="F3F6F5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73152" cy="1463040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627632"/>
            <a:ext cx="3044825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Target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Official ESS website loads a small widget </a:t>
            </a:r>
          </a:p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script that opens the existing AI.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Recommended architecture: official ESS website → widget loader → iframe → existing React AI.</a:t>
            </a:r>
          </a:p>
          <a:p>
            <a:pPr>
              <a:spcAft>
                <a:spcPts val="12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This keeps the current AI interface intact while isolating its CSS and JavaScript.</a:t>
            </a:r>
          </a:p>
          <a:p>
            <a:pPr>
              <a:spcAft>
                <a:spcPts val="12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Production deployment will require public HTTPS URLs and appropriate FastAPI CORS configuration.</a:t>
            </a:r>
          </a:p>
          <a:p>
            <a:pPr>
              <a:spcAft>
                <a:spcPts val="12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Authentication and navigation behavior will be adapted for the embedded environment.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8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67665" y="2560320"/>
            <a:ext cx="11151870" cy="1691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600" b="1">
                <a:solidFill>
                  <a:srgbClr val="1F2937"/>
                </a:solidFill>
                <a:latin typeface="Aptos"/>
              </a:defRPr>
            </a:pPr>
            <a:r>
              <a:rPr lang="en-US"/>
              <a:t>conculsion</a:t>
            </a:r>
            <a:endParaRPr lang="en-US"/>
          </a:p>
          <a:p>
            <a:pPr algn="ctr">
              <a:defRPr sz="2600" b="1">
                <a:solidFill>
                  <a:srgbClr val="1F2937"/>
                </a:solidFill>
                <a:latin typeface="Aptos"/>
              </a:defRPr>
            </a:pPr>
            <a:endParaRPr lang="en-US"/>
          </a:p>
          <a:p>
            <a:pPr algn="ctr">
              <a:defRPr sz="2600" b="1">
                <a:solidFill>
                  <a:srgbClr val="1F2937"/>
                </a:solidFill>
                <a:latin typeface="Aptos"/>
              </a:defRPr>
            </a:pPr>
            <a:r>
              <a:rPr lang="en-US"/>
              <a:t>I  try to </a:t>
            </a:r>
            <a:r>
              <a:t>Build a trustworthy, fast, and accessible AI assistant that helps </a:t>
            </a:r>
          </a:p>
          <a:p>
            <a:pPr algn="ctr">
              <a:defRPr sz="2600" b="1">
                <a:solidFill>
                  <a:srgbClr val="1F2937"/>
                </a:solidFill>
                <a:latin typeface="Aptos"/>
              </a:defRPr>
            </a:pPr>
            <a:r>
              <a:t>people discover,understand, and analyze official Ethiopian statistics.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8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5104</Words>
  <Application>WPS Presentation</Application>
  <PresentationFormat>On-screen Show (4:3)</PresentationFormat>
  <Paragraphs>249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TechNest computers</cp:lastModifiedBy>
  <cp:revision>4</cp:revision>
  <dcterms:created xsi:type="dcterms:W3CDTF">2013-01-27T09:14:00Z</dcterms:created>
  <dcterms:modified xsi:type="dcterms:W3CDTF">2026-08-31T18:13:32Z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673A3B8C8A70455DB24EF6D2DDDB3CD9_12</vt:lpwstr>
  </property>
</Properties>
</file>